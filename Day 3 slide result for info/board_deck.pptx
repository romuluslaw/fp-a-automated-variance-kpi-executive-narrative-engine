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1F2D4D"/>
                </a:solidFill>
                <a:latin typeface="Arial"/>
              </a:rPr>
              <a:t>Board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555B66"/>
                </a:solidFill>
                <a:latin typeface="Arial"/>
              </a:rPr>
              <a:t>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B66"/>
                </a:solidFill>
                <a:latin typeface="Arial"/>
              </a:rPr>
              <a:t>DRAFT run 1 (first draft, not finance reviewed, NOT approved)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Operating Profit and Cash Flow Miss Budget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Operating Profit for the month was $56,700 against budget of $162,000 (Unfavorable, -65.0%).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Operating Cash Flow for the month was $26,600 against budget of $137,700 (Unfavorable, -80.7%).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The company is experiencing a margin squeeze, with Total Revenue at $630,000 against budget of $650,000.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Total OpEx is 18.5% higher year on year versus revenue growth of 15.7%.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Gross margin (statutory)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70.6%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70.0%: 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Operating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5.0%: 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Operating expenses as % of revenue (statutory)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61.6%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65.0%: On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Revenue growth, quarter on quarter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1.5%: On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Revenue growth, year on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15.7%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10.0%: On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DSO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44.29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45.00 days: On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Key Drivers of Unfavorable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Service Revenue shortfall was caused by Orchid Bay Holdings Pte Ltd deferring its phase 2 go-live to the next quarter.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Cost of Revenue increased due to dual-running charges from CloudNimbus Hosting Pte Ltd during the region migration.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Product Revenue increased because a large renewal with Sunrise Logistics Pte Ltd was signed late.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371600"/>
          <a:ext cx="6035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64008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Comparator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 %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$630,000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$650,000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-$20,000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COGS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$185,000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Gross Profit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$445,000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$500,000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-$55,000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-11.0%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OpEx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$388,300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$338,000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$50,300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Operating Profit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$56,700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$162,000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-$105,300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-65.0%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Service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Cost of Revenue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$185,000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$150,000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Sales &amp;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Cash Flow and Working Capital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Operating Cash Flow for the month was $26,600 against budget of $137,700 (Unfavorable, -80.7%).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The Cash conversion signal is active, as Operating Cash Flow of $26,600 is below Net Income of $56,700.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Accounts Receivable increased by $63,300 in the month, contributing to the working capital drag.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Free Cash Flow for the month was $9,500 against budget of $112,700 (Unfavorable, -89.1%).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371600"/>
          <a:ext cx="6035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64008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Comparator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 %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Cash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$2,153,700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$3,138,000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-$984,300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-31.4%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Accounts Receivable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$930,000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$866,700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$63,300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Assets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$3,692,400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$4,641,900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-$949,500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-20.5%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$217,600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$189,600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Operating Cash Flow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$26,600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$137,700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-$111,100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-80.7%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Net Cash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$9,500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$112,700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-91.6%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Free Cash Flow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$9,500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$112,700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-$103,200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-91.6%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Net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$56,700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$162,000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-$105,300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