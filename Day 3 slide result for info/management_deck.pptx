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1F2D4D"/>
                </a:solidFill>
                <a:latin typeface="Arial"/>
              </a:rPr>
              <a:t>Management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555B66"/>
                </a:solidFill>
                <a:latin typeface="Arial"/>
              </a:rPr>
              <a:t>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DRAFT run 1 (first draft, not finance reviewed, NOT approved)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Operating Profit fell 65.0% this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Operating Profit was $56,700 against a budget of $162,000 (Unfavorable, -65.0%).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The margin squeeze was driven by Total COGS ($239,500 vs $201,000) and Total OpEx ($333,800 vs $287,000).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Statutory Gross margin remains On target at 70.6%.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Operating Cash Flow is Off target at $26,600, below Net Income of $56,700.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Gross margin (statutory)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70.6%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70.0%: 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Adjusted gross margin (management basis)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62.0%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60.0%: 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5.0%: 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expenses as % of revenue (statutory)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61.6%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65.0%: On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Adjusted opex % of revenue (management basis)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53.0%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55.0%: On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Revenue growth, quarter on quarter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1.5%: On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Key Drivers of Monthly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Total OpEx increased 16.3% ($333,800 vs $287,000), driven by Marketing &amp; Ads at $145,000 vs $110,000.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Direct Hosting Cost increased 23.3% ($185,000 vs $150,000) due to dual-running charges during region migration.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Consulting Revenue was $110,000 vs $150,000 (Unfavorable, -26.7%) due to Orchid Bay Holdings Pte Ltd deferring phase 2 go-live.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Accounts Receivable increased 7.3% ($930,000 vs $866,700), indicating collection risk.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371600"/>
          <a:ext cx="6035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6400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 %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$630,000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$650,000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-$20,000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$239,500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$201,000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$390,500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$449,000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-$58,500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-13.0%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$333,800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$287,000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Operating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$56,700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$162,000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-$105,300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-65.0%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Consulting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Direct Hosting Cost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Marketing &amp;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Cost and Revenue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D4D"/>
                </a:solidFill>
                <a:latin typeface="Arial"/>
              </a:rPr>
              <a:t>• Direct Hosting Cost reflects dual-running charges from CloudNimbus Hosting Pte Ltd during region migration.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D4D"/>
                </a:solidFill>
                <a:latin typeface="Arial"/>
              </a:rPr>
              <a:t>• Marketing &amp; Ads spend was pulled forward from the next quarter for the SMB launch.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D4D"/>
                </a:solidFill>
                <a:latin typeface="Arial"/>
              </a:rPr>
              <a:t>• Consulting Revenue shortfall is due to Orchid Bay Holdings Pte Ltd deferring its phase 2 go-live to the next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Cash Flow and Working Capital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Operating Cash Flow is Off target at $26,600, significantly below the budget of $137,700.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Net Income was $56,700, which is below the budget of $162,000.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Accounts Receivable increased 7.3% ($930,000 vs $866,700), contributing to working capital drag.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Cash balance remains On target at $2,153,700.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371600"/>
          <a:ext cx="6035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6400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 %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Cash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$2,153,700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$3,138,000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-$984,300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-31.4%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Accounts Receivable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$866,700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$63,300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Assets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$3,692,400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$4,641,900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-$949,500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-20.5%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$217,600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$189,600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Operating Cash Flow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$26,600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$137,700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-$111,100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-80.7%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Net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-91.6%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Free Cash Flow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$9,500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$112,700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-$103,200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-91.6%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Net 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Open Items for Owner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D4D"/>
                </a:solidFill>
                <a:latin typeface="Arial"/>
              </a:rPr>
              <a:t>• What is the expected impact of the deferred Orchid Bay Holdings Pte Ltd phase 2 go-live on Q2 revenue?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D4D"/>
                </a:solidFill>
                <a:latin typeface="Arial"/>
              </a:rPr>
              <a:t>• What is the plan to mitigate the increased Direct Hosting Cost from the region migration?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