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1">
                <a:solidFill>
                  <a:srgbClr val="1F2D4D"/>
                </a:solidFill>
                <a:latin typeface="Arial"/>
              </a:rPr>
              <a:t>Investor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555B66"/>
                </a:solidFill>
                <a:latin typeface="Arial"/>
              </a:rPr>
              <a:t>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555B66"/>
                </a:solidFill>
                <a:latin typeface="Arial"/>
              </a:rPr>
              <a:t>DRAFT run 1 (first draft, not finance reviewed, NOT approved)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F2D4D"/>
                </a:solidFill>
                <a:latin typeface="Arial"/>
              </a:rPr>
              <a:t>Monthly Operating Profit is Unfavorable Against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D4D"/>
                </a:solidFill>
                <a:latin typeface="Arial"/>
              </a:rPr>
              <a:t>• Operating Profit was Unfavorable by $105,300, reporting $56,700 against a budget of $162,000.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D4D"/>
                </a:solidFill>
                <a:latin typeface="Arial"/>
              </a:rPr>
              <a:t>• The margin squeeze was driven by Total Revenue being $20,000 below budget.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D4D"/>
                </a:solidFill>
                <a:latin typeface="Arial"/>
              </a:rPr>
              <a:t>• Total COGS was Unfavorable by $35,000, reporting $185,000 against a budget of $150,000.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D4D"/>
                </a:solidFill>
                <a:latin typeface="Arial"/>
              </a:rPr>
              <a:t>• Total OpEx was Unfavorable by $50,300, reporting $388,300 against a budget of $338,000.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Arial"/>
              </a:rPr>
              <a:t>Gross margin (statutory)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F2D4D"/>
                </a:solidFill>
                <a:latin typeface="Arial"/>
              </a:rPr>
              <a:t>70.6%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Target 70.0%: On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1371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Arial"/>
              </a:rPr>
              <a:t>Operating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1783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F2D4D"/>
                </a:solidFill>
                <a:latin typeface="Arial"/>
              </a:rPr>
              <a:t>9.0%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2286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Target 5.0%: On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Arial"/>
              </a:rPr>
              <a:t>Operating expenses as % of revenue (statutory)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337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F2D4D"/>
                </a:solidFill>
                <a:latin typeface="Arial"/>
              </a:rPr>
              <a:t>61.6%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840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Target 65.0%: On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Arial"/>
              </a:rPr>
              <a:t>Revenue growth, quarter on quarter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337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F2D4D"/>
                </a:solidFill>
                <a:latin typeface="Arial"/>
              </a:rPr>
              <a:t>2.7%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3840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Target 1.5%: On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Arial"/>
              </a:rPr>
              <a:t>Revenue growth, year on 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8920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F2D4D"/>
                </a:solidFill>
                <a:latin typeface="Arial"/>
              </a:rPr>
              <a:t>15.7%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394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Target 10.0%: On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480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555B66"/>
                </a:solidFill>
                <a:latin typeface="Arial"/>
              </a:rPr>
              <a:t>DSO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8920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F2D4D"/>
                </a:solidFill>
                <a:latin typeface="Arial"/>
              </a:rPr>
              <a:t>44.29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5394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E7D32"/>
                </a:solidFill>
                <a:latin typeface="Arial"/>
              </a:rPr>
              <a:t>Target 45.00 days: On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55B66"/>
                </a:solidFill>
                <a:latin typeface="Arial"/>
              </a:rPr>
              <a:t>DRAFT run 1 (first draft, not finance reviewed, NOT approved)  |  Figures from the engine; text drafted by AI and reviewed by FP&amp;A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55B6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F2D4D"/>
                </a:solidFill>
                <a:latin typeface="Arial"/>
              </a:rPr>
              <a:t>Key Drivers Behind Monthly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D4D"/>
                </a:solidFill>
                <a:latin typeface="Arial"/>
              </a:rPr>
              <a:t>• Total COGS increased by $35,000, reflecting dual-running charges from [VENDOR_REDACTED] during the region migration.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D4D"/>
                </a:solidFill>
                <a:latin typeface="Arial"/>
              </a:rPr>
              <a:t>• Total Revenue was $20,000 below budget due to [CUSTOMER_REDACTED] deferring its phase 2 go-live to the next quarter.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D4D"/>
                </a:solidFill>
                <a:latin typeface="Arial"/>
              </a:rPr>
              <a:t>• A large renewal was signed late, with payment expected next week, contributing to Gross Profit.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D4D"/>
                </a:solidFill>
                <a:latin typeface="Arial"/>
              </a:rPr>
              <a:t>• Total OpEx is 18.5% higher year on year versus revenue growth of 15.7%.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0" y="1371600"/>
          <a:ext cx="603504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914400"/>
                <a:gridCol w="914400"/>
                <a:gridCol w="640080"/>
                <a:gridCol w="914400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Line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Actual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Comparator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Variance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Var %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>
                    <a:solidFill>
                      <a:srgbClr val="1F2D4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Total Revenue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$630,000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$650,000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-$20,000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-3.1%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Total COGS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$185,000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Gross Profit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$445,000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$500,000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-$55,000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-11.0%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Total OpEx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$388,300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$338,000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$50,300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Operating Profit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$56,700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$162,000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-$105,300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-65.0%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Unfavorable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55B66"/>
                </a:solidFill>
                <a:latin typeface="Arial"/>
              </a:rPr>
              <a:t>DRAFT run 1 (first draft, not finance reviewed, NOT approved)  |  Figures from the engine; text drafted by AI and reviewed by FP&amp;A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55B6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